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755F6-6161-45BA-8A63-7A022A3BB895}" v="1" dt="2026-07-14T05:04:53.4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7:34.938"/>
    </inkml:context>
    <inkml:brush xml:id="br0">
      <inkml:brushProperty name="width" value="0.05" units="cm"/>
      <inkml:brushProperty name="height" value="0.05" units="cm"/>
      <inkml:brushProperty name="color" value="#E71224"/>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8:18.486"/>
    </inkml:context>
    <inkml:brush xml:id="br0">
      <inkml:brushProperty name="width" value="0.05" units="cm"/>
      <inkml:brushProperty name="height" value="0.05" units="cm"/>
      <inkml:brushProperty name="color" value="#E71224"/>
    </inkml:brush>
  </inkml:definitions>
  <inkml:trace contextRef="#ctx0" brushRef="#br0">0 84 24475,'9372'0'0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8:28.596"/>
    </inkml:context>
    <inkml:brush xml:id="br0">
      <inkml:brushProperty name="width" value="0.05" units="cm"/>
      <inkml:brushProperty name="height" value="0.05" units="cm"/>
      <inkml:brushProperty name="color" value="#E71224"/>
    </inkml:brush>
  </inkml:definitions>
  <inkml:trace contextRef="#ctx0" brushRef="#br0">1 0 22186,'29'509'0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8:37.202"/>
    </inkml:context>
    <inkml:brush xml:id="br0">
      <inkml:brushProperty name="width" value="0.05" units="cm"/>
      <inkml:brushProperty name="height" value="0.05" units="cm"/>
      <inkml:brushProperty name="color" value="#E71224"/>
    </inkml:brush>
  </inkml:definitions>
  <inkml:trace contextRef="#ctx0" brushRef="#br0">0 0 24119,'0'480'0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8:41.071"/>
    </inkml:context>
    <inkml:brush xml:id="br0">
      <inkml:brushProperty name="width" value="0.05" units="cm"/>
      <inkml:brushProperty name="height" value="0.05" units="cm"/>
      <inkml:brushProperty name="color" value="#E71224"/>
    </inkml:brush>
  </inkml:definitions>
  <inkml:trace contextRef="#ctx0" brushRef="#br0">0 73 22698,'9343'0'0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8:51.491"/>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7:28:54.700"/>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sverma1407/IOT-troubleshootin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4985396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Shubham </a:t>
                      </a:r>
                      <a:r>
                        <a:rPr lang="en-US" sz="2000" dirty="0" err="1"/>
                        <a:t>verma</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sv9365617@gmail.com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6377982124</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776748" y="1460724"/>
            <a:ext cx="10894142"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b="1" dirty="0">
                <a:highlight>
                  <a:srgbClr val="FFFF00"/>
                </a:highlight>
              </a:rPr>
              <a:t>Internet of Things &amp; Technical Support Automation</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776748" y="570771"/>
            <a:ext cx="10894142"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b="1" dirty="0" err="1">
                <a:highlight>
                  <a:srgbClr val="FFFF00"/>
                </a:highlight>
              </a:rPr>
              <a:t>IoTAssist</a:t>
            </a:r>
            <a:r>
              <a:rPr lang="en-IN" sz="2400" b="1" dirty="0">
                <a:highlight>
                  <a:srgbClr val="FFFF00"/>
                </a:highlight>
              </a:rPr>
              <a:t> AI – Smart IoT Device Troubleshooting Assistant</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587AAC54-C840-E1F7-06E8-6E0D943C8667}"/>
              </a:ext>
            </a:extLst>
          </p:cNvPr>
          <p:cNvPicPr>
            <a:picLocks noChangeAspect="1"/>
          </p:cNvPicPr>
          <p:nvPr/>
        </p:nvPicPr>
        <p:blipFill>
          <a:blip r:embed="rId3"/>
          <a:stretch>
            <a:fillRect/>
          </a:stretch>
        </p:blipFill>
        <p:spPr>
          <a:xfrm>
            <a:off x="4175300" y="3679299"/>
            <a:ext cx="799822" cy="10881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 </a:t>
            </a:r>
            <a:r>
              <a:rPr lang="en-IN" b="1" dirty="0"/>
              <a:t>Smart IoT Device Troubleshooting Agent (</a:t>
            </a:r>
            <a:r>
              <a:rPr lang="en-IN" b="1" dirty="0" err="1"/>
              <a:t>IoTAssist</a:t>
            </a:r>
            <a:r>
              <a:rPr lang="en-IN" b="1" dirty="0"/>
              <a:t> AI)</a:t>
            </a:r>
            <a:endParaRPr lang="en-US" b="1" dirty="0"/>
          </a:p>
          <a:p>
            <a:pPr fontAlgn="base"/>
            <a:endParaRPr lang="en-US" b="1" dirty="0"/>
          </a:p>
          <a:p>
            <a:pPr fontAlgn="base"/>
            <a:r>
              <a:rPr lang="en-US" b="1" dirty="0"/>
              <a:t>The Challenge</a:t>
            </a:r>
            <a:r>
              <a:rPr lang="en-US" dirty="0"/>
              <a:t> </a:t>
            </a:r>
          </a:p>
          <a:p>
            <a:pPr fontAlgn="base"/>
            <a:r>
              <a:rPr lang="en-IN" dirty="0"/>
              <a:t>Smart home and IoT device adoption is rapidly growing, but users constantly struggle with </a:t>
            </a:r>
            <a:r>
              <a:rPr lang="en-IN" b="1" dirty="0"/>
              <a:t>device connectivity failures</a:t>
            </a:r>
            <a:r>
              <a:rPr lang="en-IN" dirty="0"/>
              <a:t>, </a:t>
            </a:r>
            <a:r>
              <a:rPr lang="en-IN" b="1" dirty="0"/>
              <a:t>firmware update glitches</a:t>
            </a:r>
            <a:r>
              <a:rPr lang="en-IN" dirty="0"/>
              <a:t>, and </a:t>
            </a:r>
            <a:r>
              <a:rPr lang="en-IN" b="1" dirty="0"/>
              <a:t>complex network configurations</a:t>
            </a:r>
            <a:r>
              <a:rPr lang="en-IN" dirty="0"/>
              <a:t>. Technical manuals and troubleshooting steps are scattered across unorganized documentation. Without </a:t>
            </a:r>
            <a:r>
              <a:rPr lang="en-IN" b="1" dirty="0"/>
              <a:t>intelligent, real-time diagnostic guidance</a:t>
            </a:r>
            <a:r>
              <a:rPr lang="en-IN" dirty="0"/>
              <a:t>, users fail to resolve device offline statuses, sensor errors, or communication failures efficiently.</a:t>
            </a:r>
          </a:p>
          <a:p>
            <a:pPr fontAlgn="base"/>
            <a:endParaRPr lang="en-US" dirty="0"/>
          </a:p>
          <a:p>
            <a:pPr fontAlgn="base"/>
            <a:r>
              <a:rPr lang="en-US" b="1" dirty="0"/>
              <a:t>The Objective</a:t>
            </a:r>
            <a:r>
              <a:rPr lang="en-US" dirty="0"/>
              <a:t> </a:t>
            </a:r>
          </a:p>
          <a:p>
            <a:pPr fontAlgn="base"/>
            <a:r>
              <a:rPr lang="en-IN" dirty="0"/>
              <a:t>Build an </a:t>
            </a:r>
            <a:r>
              <a:rPr lang="en-IN" b="1" dirty="0"/>
              <a:t>AI-powered Smart IoT Device Troubleshooting Agent</a:t>
            </a:r>
            <a:r>
              <a:rPr lang="en-IN" dirty="0"/>
              <a:t> that delivers </a:t>
            </a:r>
            <a:r>
              <a:rPr lang="en-IN" b="1" dirty="0"/>
              <a:t>real-time diagnostic insights and step-by-step guidance</a:t>
            </a:r>
            <a:r>
              <a:rPr lang="en-IN" dirty="0"/>
              <a:t> for smart home users, IT technicians, and IoT administrators. The solution should:</a:t>
            </a:r>
            <a:r>
              <a:rPr lang="en-US" dirty="0"/>
              <a:t> </a:t>
            </a:r>
          </a:p>
          <a:p>
            <a:pPr marL="285750" indent="-285750" fontAlgn="base">
              <a:buFont typeface="Arial" panose="020B0604020202020204" pitchFamily="34" charset="0"/>
              <a:buChar char="•"/>
            </a:pPr>
            <a:r>
              <a:rPr lang="en-IN" b="1" dirty="0"/>
              <a:t>Device Issue Diagnosis</a:t>
            </a:r>
            <a:r>
              <a:rPr lang="en-IN" dirty="0"/>
              <a:t> – Classify problem descriptions and pinpoint root causes.</a:t>
            </a:r>
          </a:p>
          <a:p>
            <a:pPr marL="285750" indent="-285750" fontAlgn="base">
              <a:buFont typeface="Arial" panose="020B0604020202020204" pitchFamily="34" charset="0"/>
              <a:buChar char="•"/>
            </a:pPr>
            <a:r>
              <a:rPr lang="en-IN" b="1" dirty="0"/>
              <a:t>Technical Knowledge RAG Retrieval</a:t>
            </a:r>
            <a:r>
              <a:rPr lang="en-IN" dirty="0"/>
              <a:t> – Fetch and summarize technical manuals, setup guides, and protocols (MQTT, Zigbee, BLE) from reliable IoT documentation.</a:t>
            </a:r>
          </a:p>
          <a:p>
            <a:pPr marL="285750" indent="-285750" fontAlgn="base">
              <a:buFont typeface="Arial" panose="020B0604020202020204" pitchFamily="34" charset="0"/>
              <a:buChar char="•"/>
            </a:pPr>
            <a:r>
              <a:rPr lang="en-IN" b="1" dirty="0"/>
              <a:t>Step-by-Step Troubleshooting</a:t>
            </a:r>
            <a:r>
              <a:rPr lang="en-IN" dirty="0"/>
              <a:t> – Provide structured diagnostic workflows, checklists, corrective actions, and preventive maintenance steps.</a:t>
            </a:r>
          </a:p>
          <a:p>
            <a:pPr marL="285750" indent="-285750" fontAlgn="base">
              <a:buFont typeface="Arial" panose="020B0604020202020204" pitchFamily="34" charset="0"/>
              <a:buChar char="•"/>
            </a:pPr>
            <a:r>
              <a:rPr lang="en-IN" b="1" dirty="0"/>
              <a:t>Knowledge RAG Retrieval</a:t>
            </a:r>
            <a:r>
              <a:rPr lang="en-IN" dirty="0"/>
              <a:t> – Fetch and summarize technical manuals and protocol guides (MQTT, Zigbee, BLE).</a:t>
            </a:r>
            <a:endParaRPr lang="en-US" dirty="0"/>
          </a:p>
          <a:p>
            <a:pPr marL="285750" indent="-285750" fontAlgn="base">
              <a:buFont typeface="Arial" panose="020B0604020202020204" pitchFamily="34" charset="0"/>
              <a:buChar char="•"/>
            </a:pPr>
            <a:r>
              <a:rPr lang="en-IN" b="1" dirty="0"/>
              <a:t>Guided Troubleshooting</a:t>
            </a:r>
            <a:r>
              <a:rPr lang="en-IN" dirty="0"/>
              <a:t> – Generate step-by-step repair workflows and diagnostic checklists.</a:t>
            </a:r>
          </a:p>
          <a:p>
            <a:pPr marL="285750" indent="-285750" fontAlgn="base">
              <a:buFont typeface="Arial" panose="020B0604020202020204" pitchFamily="34" charset="0"/>
              <a:buChar char="•"/>
            </a:pPr>
            <a:r>
              <a:rPr lang="en-IN" b="1" dirty="0"/>
              <a:t>Conversational Chatbot</a:t>
            </a:r>
            <a:r>
              <a:rPr lang="en-IN" dirty="0"/>
              <a:t> – Provide interactive, real-time follow-up support.</a:t>
            </a:r>
          </a:p>
          <a:p>
            <a:pPr marL="285750" indent="-285750" fontAlgn="base">
              <a:buFont typeface="Arial" panose="020B0604020202020204" pitchFamily="34" charset="0"/>
              <a:buChar char="•"/>
            </a:pPr>
            <a:r>
              <a:rPr lang="en-IN" b="1" dirty="0"/>
              <a:t>Multi-Agent Architecture</a:t>
            </a:r>
            <a:r>
              <a:rPr lang="en-IN" dirty="0"/>
              <a:t> – Combine issue analysis, retrieval, troubleshooting, and chat agents into one orchestrator.</a:t>
            </a:r>
          </a:p>
          <a:p>
            <a:pPr marL="285750" indent="-285750" fontAlgn="base">
              <a:buFont typeface="Arial" panose="020B0604020202020204" pitchFamily="34" charset="0"/>
              <a:buChar char="•"/>
            </a:pPr>
            <a:r>
              <a:rPr lang="en-IN" b="1" dirty="0"/>
              <a:t>Status Dashboard</a:t>
            </a:r>
            <a:r>
              <a:rPr lang="en-IN" dirty="0"/>
              <a:t> – Display real-time device health, connectivity metrics, and active workflows.</a:t>
            </a:r>
          </a:p>
          <a:p>
            <a:pPr marL="285750" indent="-285750" fontAlgn="base">
              <a:buFont typeface="Arial" panose="020B0604020202020204" pitchFamily="34" charset="0"/>
              <a:buChar char="•"/>
            </a:pP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616648"/>
          </a:xfrm>
          <a:prstGeom prst="rect">
            <a:avLst/>
          </a:prstGeom>
          <a:noFill/>
        </p:spPr>
        <p:txBody>
          <a:bodyPr wrap="square" rtlCol="0">
            <a:spAutoFit/>
          </a:bodyPr>
          <a:lstStyle/>
          <a:p>
            <a:pPr fontAlgn="base"/>
            <a:endParaRPr lang="en-US" b="1" dirty="0"/>
          </a:p>
          <a:p>
            <a:r>
              <a:rPr lang="en-IN" b="1" dirty="0"/>
              <a:t>Proposed Solution: AI-Powered Smart IoT Device Troubleshooting Agent (</a:t>
            </a:r>
            <a:r>
              <a:rPr lang="en-IN" b="1" dirty="0" err="1"/>
              <a:t>IoTAssist</a:t>
            </a:r>
            <a:r>
              <a:rPr lang="en-IN" b="1" dirty="0"/>
              <a:t> AI)</a:t>
            </a:r>
            <a:r>
              <a:rPr lang="en-IN" dirty="0"/>
              <a:t> The proposed solution is a </a:t>
            </a:r>
            <a:r>
              <a:rPr lang="en-IN" b="1" dirty="0"/>
              <a:t>multi-agent AI-powered IoT Troubleshooting Assistant</a:t>
            </a:r>
            <a:r>
              <a:rPr lang="en-IN" dirty="0"/>
              <a:t> built using </a:t>
            </a:r>
            <a:r>
              <a:rPr lang="en-IN" b="1" dirty="0"/>
              <a:t>IBM Bob, IBM watsonx.ai, and Granite Models</a:t>
            </a:r>
            <a:r>
              <a:rPr lang="en-IN" dirty="0"/>
              <a:t> to provide real-time diagnostic and technical guidance. The system addresses challenges in device connectivity, configuration failures, and unorganized technical documentation through an intelligent, modular architecture. At its core, the solution uses a </a:t>
            </a:r>
            <a:r>
              <a:rPr lang="en-IN" b="1" dirty="0"/>
              <a:t>Retrieval-Augmented Generation (RAG)</a:t>
            </a:r>
            <a:r>
              <a:rPr lang="en-IN" dirty="0"/>
              <a:t> pipeline to fetch accurate technical documentation, setup manuals, and protocol standards (Wi-Fi, Zigbee, BLE, MQTT). This data is embedded and stored in a vector database, enabling the system to retrieve and summarize relevant troubleshooting guides using Granite models. </a:t>
            </a:r>
          </a:p>
          <a:p>
            <a:r>
              <a:rPr lang="en-IN" dirty="0"/>
              <a:t>The system consists of four key agents: </a:t>
            </a:r>
          </a:p>
          <a:p>
            <a:r>
              <a:rPr lang="en-IN" b="1" dirty="0"/>
              <a:t>Device Issue Understanding Agent</a:t>
            </a:r>
            <a:r>
              <a:rPr lang="en-IN" dirty="0"/>
              <a:t> </a:t>
            </a:r>
            <a:r>
              <a:rPr lang="en-IN" dirty="0" err="1"/>
              <a:t>analyzes</a:t>
            </a:r>
            <a:r>
              <a:rPr lang="en-IN" dirty="0"/>
              <a:t> natural language descriptions to identify problem categories, root causes, and device health. </a:t>
            </a:r>
          </a:p>
          <a:p>
            <a:r>
              <a:rPr lang="en-IN" b="1" dirty="0"/>
              <a:t>Knowledge Retrieval Agent</a:t>
            </a:r>
            <a:r>
              <a:rPr lang="en-IN" dirty="0"/>
              <a:t> fetches and summarizes technical documentation and setup guidelines using RAG. </a:t>
            </a:r>
          </a:p>
          <a:p>
            <a:r>
              <a:rPr lang="en-IN" b="1" dirty="0"/>
              <a:t>Step-by-Step Troubleshooting Agent</a:t>
            </a:r>
            <a:r>
              <a:rPr lang="en-IN" dirty="0"/>
              <a:t> provides structured diagnostic checklists, corrective actions, and repair workflows. </a:t>
            </a:r>
            <a:r>
              <a:rPr lang="en-IN" b="1" dirty="0"/>
              <a:t>Conversational IoT Support Agent</a:t>
            </a:r>
            <a:r>
              <a:rPr lang="en-IN" dirty="0"/>
              <a:t> offers an interactive chatbot experience for real-time follow-up support and configuration assistance. </a:t>
            </a:r>
          </a:p>
          <a:p>
            <a:r>
              <a:rPr lang="en-IN" dirty="0"/>
              <a:t>The solution includes a </a:t>
            </a:r>
            <a:r>
              <a:rPr lang="en-IN" b="1" dirty="0"/>
              <a:t>user-friendly dashboard</a:t>
            </a:r>
            <a:r>
              <a:rPr lang="en-IN" dirty="0"/>
              <a:t> (built with Flask and Bootstrap 5) that visualizes device status, network connectivity indicators, and active troubleshooting workflows. IBM Bob is used to orchestrate agent workflows, while watsonx.ai ensures scalable model deployment, embeddings, and AI governance. Granite models power reasoning, summarization, and diagnostic generation. </a:t>
            </a:r>
          </a:p>
          <a:p>
            <a:r>
              <a:rPr lang="en-IN" dirty="0"/>
              <a:t>Overall, this solution delivers an </a:t>
            </a:r>
            <a:r>
              <a:rPr lang="en-IN" b="1" dirty="0"/>
              <a:t>end-to-end intelligent IoT troubleshooting assistant</a:t>
            </a:r>
            <a:r>
              <a:rPr lang="en-IN" dirty="0"/>
              <a:t> that minimizes device downtime through instant diagnostics, step-by-step guidance, and real-time conversational support.</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IN" sz="1800" b="1" dirty="0"/>
              <a:t>IBM Granite model</a:t>
            </a:r>
            <a:r>
              <a:rPr lang="en-IN" sz="1800" dirty="0"/>
              <a:t> - for </a:t>
            </a:r>
            <a:r>
              <a:rPr lang="en-IN" sz="1800" dirty="0" err="1"/>
              <a:t>eg</a:t>
            </a:r>
            <a:r>
              <a:rPr lang="en-IN" sz="1800" dirty="0"/>
              <a:t> – ibm-granite-3-2-8b – For natural language understanding, reasoning, and device diagnostic generation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Cloud</a:t>
            </a:r>
            <a:r>
              <a:rPr lang="en-IN" sz="1800" dirty="0"/>
              <a:t> – It provides the infrastructure to build, deploy, and scale the </a:t>
            </a:r>
            <a:r>
              <a:rPr lang="en-IN" sz="1800" dirty="0" err="1"/>
              <a:t>IoTAssist</a:t>
            </a:r>
            <a:r>
              <a:rPr lang="en-IN" sz="1800" dirty="0"/>
              <a:t> AI Agent efficiently. IBM Cloud enables a </a:t>
            </a:r>
            <a:r>
              <a:rPr lang="en-IN" sz="1800" b="1" dirty="0"/>
              <a:t>reliable, secure, and scalable environment</a:t>
            </a:r>
            <a:r>
              <a:rPr lang="en-IN" sz="1800" dirty="0"/>
              <a:t> for deploying the </a:t>
            </a:r>
            <a:r>
              <a:rPr lang="en-IN" sz="1800" dirty="0" err="1"/>
              <a:t>IoTAssist</a:t>
            </a:r>
            <a:r>
              <a:rPr lang="en-IN" sz="1800" dirty="0"/>
              <a:t> AI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RAG–</a:t>
            </a:r>
            <a:r>
              <a:rPr lang="en-IN" sz="1800" dirty="0"/>
              <a:t> RAG to </a:t>
            </a:r>
            <a:r>
              <a:rPr lang="en-IN" sz="1800" b="1" dirty="0"/>
              <a:t>fetch real technical data first, then generate intelligent answers</a:t>
            </a:r>
            <a:r>
              <a:rPr lang="en-IN" sz="1800" dirty="0"/>
              <a:t>, making the </a:t>
            </a:r>
            <a:r>
              <a:rPr lang="en-IN" sz="1800" dirty="0" err="1"/>
              <a:t>IoTAssist</a:t>
            </a:r>
            <a:r>
              <a:rPr lang="en-IN" sz="1800" dirty="0"/>
              <a:t> AI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Watsonx.ai</a:t>
            </a:r>
            <a:r>
              <a:rPr lang="en-IN" sz="1800" dirty="0"/>
              <a:t> - 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(FAISS/Chroma)</a:t>
            </a:r>
            <a:r>
              <a:rPr lang="en-IN" sz="1800" dirty="0"/>
              <a:t> – For RAG-based IoT technical documentation retrieval</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a:t>
            </a:r>
            <a:r>
              <a:rPr lang="en-US" sz="1800" dirty="0" err="1"/>
              <a:t>gitignore</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README.md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CDE1D955-E77E-4C1E-E2CB-CB40EC2C0BF2}"/>
              </a:ext>
            </a:extLst>
          </p:cNvPr>
          <p:cNvPicPr>
            <a:picLocks noChangeAspect="1"/>
          </p:cNvPicPr>
          <p:nvPr/>
        </p:nvPicPr>
        <p:blipFill>
          <a:blip r:embed="rId3"/>
          <a:stretch>
            <a:fillRect/>
          </a:stretch>
        </p:blipFill>
        <p:spPr>
          <a:xfrm>
            <a:off x="3908873" y="1689737"/>
            <a:ext cx="7868367" cy="4455323"/>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62126" y="1849001"/>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70044A78-3FF3-D379-E854-94E3FD7E6FF0}"/>
              </a:ext>
            </a:extLst>
          </p:cNvPr>
          <p:cNvPicPr>
            <a:picLocks noChangeAspect="1"/>
          </p:cNvPicPr>
          <p:nvPr/>
        </p:nvPicPr>
        <p:blipFill>
          <a:blip r:embed="rId3"/>
          <a:stretch>
            <a:fillRect/>
          </a:stretch>
        </p:blipFill>
        <p:spPr>
          <a:xfrm>
            <a:off x="1487130" y="974593"/>
            <a:ext cx="9217740" cy="572864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85553B-3F29-CFC9-47C0-EA5E1554A8B8}"/>
              </a:ext>
            </a:extLst>
          </p:cNvPr>
          <p:cNvPicPr>
            <a:picLocks noChangeAspect="1"/>
          </p:cNvPicPr>
          <p:nvPr/>
        </p:nvPicPr>
        <p:blipFill>
          <a:blip r:embed="rId2"/>
          <a:stretch>
            <a:fillRect/>
          </a:stretch>
        </p:blipFill>
        <p:spPr>
          <a:xfrm>
            <a:off x="999281" y="523568"/>
            <a:ext cx="10193437" cy="5810863"/>
          </a:xfrm>
          <a:prstGeom prst="rect">
            <a:avLst/>
          </a:prstGeom>
        </p:spPr>
      </p:pic>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62BE8D78-1C29-4A8A-8047-748BD690602D}"/>
                  </a:ext>
                </a:extLst>
              </p14:cNvPr>
              <p14:cNvContentPartPr/>
              <p14:nvPr/>
            </p14:nvContentPartPr>
            <p14:xfrm>
              <a:off x="2234960" y="1879360"/>
              <a:ext cx="360" cy="360"/>
            </p14:xfrm>
          </p:contentPart>
        </mc:Choice>
        <mc:Fallback>
          <p:pic>
            <p:nvPicPr>
              <p:cNvPr id="12" name="Ink 11">
                <a:extLst>
                  <a:ext uri="{FF2B5EF4-FFF2-40B4-BE49-F238E27FC236}">
                    <a16:creationId xmlns:a16="http://schemas.microsoft.com/office/drawing/2014/main" id="{62BE8D78-1C29-4A8A-8047-748BD690602D}"/>
                  </a:ext>
                </a:extLst>
              </p:cNvPr>
              <p:cNvPicPr/>
              <p:nvPr/>
            </p:nvPicPr>
            <p:blipFill>
              <a:blip r:embed="rId4"/>
              <a:stretch>
                <a:fillRect/>
              </a:stretch>
            </p:blipFill>
            <p:spPr>
              <a:xfrm>
                <a:off x="2226320" y="187072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EE2E455B-BA1B-B3CF-31E6-E4CA178B55F5}"/>
                  </a:ext>
                </a:extLst>
              </p14:cNvPr>
              <p14:cNvContentPartPr/>
              <p14:nvPr/>
            </p14:nvContentPartPr>
            <p14:xfrm>
              <a:off x="4399280" y="2235040"/>
              <a:ext cx="3374280" cy="720"/>
            </p14:xfrm>
          </p:contentPart>
        </mc:Choice>
        <mc:Fallback>
          <p:pic>
            <p:nvPicPr>
              <p:cNvPr id="17" name="Ink 16">
                <a:extLst>
                  <a:ext uri="{FF2B5EF4-FFF2-40B4-BE49-F238E27FC236}">
                    <a16:creationId xmlns:a16="http://schemas.microsoft.com/office/drawing/2014/main" id="{EE2E455B-BA1B-B3CF-31E6-E4CA178B55F5}"/>
                  </a:ext>
                </a:extLst>
              </p:cNvPr>
              <p:cNvPicPr/>
              <p:nvPr/>
            </p:nvPicPr>
            <p:blipFill>
              <a:blip r:embed="rId6"/>
              <a:stretch>
                <a:fillRect/>
              </a:stretch>
            </p:blipFill>
            <p:spPr>
              <a:xfrm>
                <a:off x="4390280" y="2217040"/>
                <a:ext cx="33919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9" name="Ink 18">
                <a:extLst>
                  <a:ext uri="{FF2B5EF4-FFF2-40B4-BE49-F238E27FC236}">
                    <a16:creationId xmlns:a16="http://schemas.microsoft.com/office/drawing/2014/main" id="{DC4663D1-B222-E1C5-1716-8624AD43F09F}"/>
                  </a:ext>
                </a:extLst>
              </p14:cNvPr>
              <p14:cNvContentPartPr/>
              <p14:nvPr/>
            </p14:nvContentPartPr>
            <p14:xfrm>
              <a:off x="7761680" y="2245120"/>
              <a:ext cx="10800" cy="183240"/>
            </p14:xfrm>
          </p:contentPart>
        </mc:Choice>
        <mc:Fallback>
          <p:pic>
            <p:nvPicPr>
              <p:cNvPr id="19" name="Ink 18">
                <a:extLst>
                  <a:ext uri="{FF2B5EF4-FFF2-40B4-BE49-F238E27FC236}">
                    <a16:creationId xmlns:a16="http://schemas.microsoft.com/office/drawing/2014/main" id="{DC4663D1-B222-E1C5-1716-8624AD43F09F}"/>
                  </a:ext>
                </a:extLst>
              </p:cNvPr>
              <p:cNvPicPr/>
              <p:nvPr/>
            </p:nvPicPr>
            <p:blipFill>
              <a:blip r:embed="rId8"/>
              <a:stretch>
                <a:fillRect/>
              </a:stretch>
            </p:blipFill>
            <p:spPr>
              <a:xfrm>
                <a:off x="7753040" y="2236120"/>
                <a:ext cx="2844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1" name="Ink 20">
                <a:extLst>
                  <a:ext uri="{FF2B5EF4-FFF2-40B4-BE49-F238E27FC236}">
                    <a16:creationId xmlns:a16="http://schemas.microsoft.com/office/drawing/2014/main" id="{9EFFA225-A57A-632F-D473-DA398CD546F5}"/>
                  </a:ext>
                </a:extLst>
              </p14:cNvPr>
              <p14:cNvContentPartPr/>
              <p14:nvPr/>
            </p14:nvContentPartPr>
            <p14:xfrm>
              <a:off x="4388840" y="2255200"/>
              <a:ext cx="360" cy="173160"/>
            </p14:xfrm>
          </p:contentPart>
        </mc:Choice>
        <mc:Fallback>
          <p:pic>
            <p:nvPicPr>
              <p:cNvPr id="21" name="Ink 20">
                <a:extLst>
                  <a:ext uri="{FF2B5EF4-FFF2-40B4-BE49-F238E27FC236}">
                    <a16:creationId xmlns:a16="http://schemas.microsoft.com/office/drawing/2014/main" id="{9EFFA225-A57A-632F-D473-DA398CD546F5}"/>
                  </a:ext>
                </a:extLst>
              </p:cNvPr>
              <p:cNvPicPr/>
              <p:nvPr/>
            </p:nvPicPr>
            <p:blipFill>
              <a:blip r:embed="rId10"/>
              <a:stretch>
                <a:fillRect/>
              </a:stretch>
            </p:blipFill>
            <p:spPr>
              <a:xfrm>
                <a:off x="4379840" y="2246200"/>
                <a:ext cx="180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3" name="Ink 22">
                <a:extLst>
                  <a:ext uri="{FF2B5EF4-FFF2-40B4-BE49-F238E27FC236}">
                    <a16:creationId xmlns:a16="http://schemas.microsoft.com/office/drawing/2014/main" id="{F70B8978-4093-83A5-A7AC-8BB6F326A6FA}"/>
                  </a:ext>
                </a:extLst>
              </p14:cNvPr>
              <p14:cNvContentPartPr/>
              <p14:nvPr/>
            </p14:nvContentPartPr>
            <p14:xfrm>
              <a:off x="4388840" y="2428000"/>
              <a:ext cx="3363840" cy="720"/>
            </p14:xfrm>
          </p:contentPart>
        </mc:Choice>
        <mc:Fallback>
          <p:pic>
            <p:nvPicPr>
              <p:cNvPr id="23" name="Ink 22">
                <a:extLst>
                  <a:ext uri="{FF2B5EF4-FFF2-40B4-BE49-F238E27FC236}">
                    <a16:creationId xmlns:a16="http://schemas.microsoft.com/office/drawing/2014/main" id="{F70B8978-4093-83A5-A7AC-8BB6F326A6FA}"/>
                  </a:ext>
                </a:extLst>
              </p:cNvPr>
              <p:cNvPicPr/>
              <p:nvPr/>
            </p:nvPicPr>
            <p:blipFill>
              <a:blip r:embed="rId12"/>
              <a:stretch>
                <a:fillRect/>
              </a:stretch>
            </p:blipFill>
            <p:spPr>
              <a:xfrm>
                <a:off x="4379840" y="2410000"/>
                <a:ext cx="33814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4" name="Ink 23">
                <a:extLst>
                  <a:ext uri="{FF2B5EF4-FFF2-40B4-BE49-F238E27FC236}">
                    <a16:creationId xmlns:a16="http://schemas.microsoft.com/office/drawing/2014/main" id="{670B2D2C-AF05-A769-9B1B-4FB707180A0B}"/>
                  </a:ext>
                </a:extLst>
              </p14:cNvPr>
              <p14:cNvContentPartPr/>
              <p14:nvPr/>
            </p14:nvContentPartPr>
            <p14:xfrm>
              <a:off x="4378760" y="2265640"/>
              <a:ext cx="360" cy="360"/>
            </p14:xfrm>
          </p:contentPart>
        </mc:Choice>
        <mc:Fallback>
          <p:pic>
            <p:nvPicPr>
              <p:cNvPr id="24" name="Ink 23">
                <a:extLst>
                  <a:ext uri="{FF2B5EF4-FFF2-40B4-BE49-F238E27FC236}">
                    <a16:creationId xmlns:a16="http://schemas.microsoft.com/office/drawing/2014/main" id="{670B2D2C-AF05-A769-9B1B-4FB707180A0B}"/>
                  </a:ext>
                </a:extLst>
              </p:cNvPr>
              <p:cNvPicPr/>
              <p:nvPr/>
            </p:nvPicPr>
            <p:blipFill>
              <a:blip r:embed="rId4"/>
              <a:stretch>
                <a:fillRect/>
              </a:stretch>
            </p:blipFill>
            <p:spPr>
              <a:xfrm>
                <a:off x="4370120" y="225664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5" name="Ink 24">
                <a:extLst>
                  <a:ext uri="{FF2B5EF4-FFF2-40B4-BE49-F238E27FC236}">
                    <a16:creationId xmlns:a16="http://schemas.microsoft.com/office/drawing/2014/main" id="{1B8CA408-180C-80CB-7562-301CF631D4FA}"/>
                  </a:ext>
                </a:extLst>
              </p14:cNvPr>
              <p14:cNvContentPartPr/>
              <p14:nvPr/>
            </p14:nvContentPartPr>
            <p14:xfrm>
              <a:off x="7741880" y="2326480"/>
              <a:ext cx="360" cy="360"/>
            </p14:xfrm>
          </p:contentPart>
        </mc:Choice>
        <mc:Fallback>
          <p:pic>
            <p:nvPicPr>
              <p:cNvPr id="25" name="Ink 24">
                <a:extLst>
                  <a:ext uri="{FF2B5EF4-FFF2-40B4-BE49-F238E27FC236}">
                    <a16:creationId xmlns:a16="http://schemas.microsoft.com/office/drawing/2014/main" id="{1B8CA408-180C-80CB-7562-301CF631D4FA}"/>
                  </a:ext>
                </a:extLst>
              </p:cNvPr>
              <p:cNvPicPr/>
              <p:nvPr/>
            </p:nvPicPr>
            <p:blipFill>
              <a:blip r:embed="rId4"/>
              <a:stretch>
                <a:fillRect/>
              </a:stretch>
            </p:blipFill>
            <p:spPr>
              <a:xfrm>
                <a:off x="7732880" y="2317480"/>
                <a:ext cx="18000" cy="18000"/>
              </a:xfrm>
              <a:prstGeom prst="rect">
                <a:avLst/>
              </a:prstGeom>
            </p:spPr>
          </p:pic>
        </mc:Fallback>
      </mc:AlternateContent>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7" name="Picture 6">
            <a:extLst>
              <a:ext uri="{FF2B5EF4-FFF2-40B4-BE49-F238E27FC236}">
                <a16:creationId xmlns:a16="http://schemas.microsoft.com/office/drawing/2014/main" id="{DC8AB0F9-8C11-C8DB-F71F-2FE78B529EF7}"/>
              </a:ext>
            </a:extLst>
          </p:cNvPr>
          <p:cNvPicPr>
            <a:picLocks noChangeAspect="1"/>
          </p:cNvPicPr>
          <p:nvPr/>
        </p:nvPicPr>
        <p:blipFill>
          <a:blip r:embed="rId3"/>
          <a:stretch>
            <a:fillRect/>
          </a:stretch>
        </p:blipFill>
        <p:spPr>
          <a:xfrm>
            <a:off x="2614261" y="748743"/>
            <a:ext cx="6963478" cy="57961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IN" b="1" dirty="0"/>
              <a:t>Role of Agentic AI in </a:t>
            </a:r>
            <a:r>
              <a:rPr lang="en-IN" b="1" dirty="0" err="1"/>
              <a:t>IoTAssist</a:t>
            </a:r>
            <a:r>
              <a:rPr lang="en-IN" b="1" dirty="0"/>
              <a:t> AI</a:t>
            </a:r>
            <a:r>
              <a:rPr lang="en-IN" dirty="0"/>
              <a:t> </a:t>
            </a:r>
          </a:p>
          <a:p>
            <a:endParaRPr lang="en-IN" dirty="0"/>
          </a:p>
          <a:p>
            <a:r>
              <a:rPr lang="en-IN" dirty="0"/>
              <a:t>Agentic AI enables </a:t>
            </a:r>
            <a:r>
              <a:rPr lang="en-IN" dirty="0" err="1"/>
              <a:t>IoTAssist</a:t>
            </a:r>
            <a:r>
              <a:rPr lang="en-IN" dirty="0"/>
              <a:t> AI to function as an intelligent, autonomous system rather than a simple rule-based chatbot. </a:t>
            </a:r>
          </a:p>
          <a:p>
            <a:r>
              <a:rPr lang="en-IN" dirty="0"/>
              <a:t>Using </a:t>
            </a:r>
            <a:r>
              <a:rPr lang="en-IN" b="1" dirty="0"/>
              <a:t>IBM watsonx.ai</a:t>
            </a:r>
            <a:r>
              <a:rPr lang="en-IN" dirty="0"/>
              <a:t> and </a:t>
            </a:r>
            <a:r>
              <a:rPr lang="en-IN" b="1" dirty="0"/>
              <a:t>IBM Granite models</a:t>
            </a:r>
            <a:r>
              <a:rPr lang="en-IN" dirty="0"/>
              <a:t>, it coordinates multiple specialized agents to deliver precise, end-to-end device troubleshooting guidance. Each agent performs a specific role—such as </a:t>
            </a:r>
            <a:r>
              <a:rPr lang="en-IN" dirty="0" err="1"/>
              <a:t>analyzing</a:t>
            </a:r>
            <a:r>
              <a:rPr lang="en-IN" dirty="0"/>
              <a:t> hardware logs, retrieving manual and protocol knowledge, executing step-by-step resolution workflows, and offering conversational support—while working collaboratively. </a:t>
            </a:r>
          </a:p>
          <a:p>
            <a:r>
              <a:rPr lang="en-IN" dirty="0"/>
              <a:t>This </a:t>
            </a:r>
            <a:r>
              <a:rPr lang="en-IN" b="1" dirty="0"/>
              <a:t>multi-agent approach</a:t>
            </a:r>
            <a:r>
              <a:rPr lang="en-IN" dirty="0"/>
              <a:t> ensures efficient task execution and accurate root-cause isolation. Agentic AI also brings </a:t>
            </a:r>
            <a:r>
              <a:rPr lang="en-IN" b="1" dirty="0"/>
              <a:t>context awareness</a:t>
            </a:r>
            <a:r>
              <a:rPr lang="en-IN" dirty="0"/>
              <a:t>, understanding device models, error states, and session history to generate tailored troubleshooting steps. It supports </a:t>
            </a:r>
            <a:r>
              <a:rPr lang="en-IN" b="1" dirty="0"/>
              <a:t>real-time adaptation</a:t>
            </a:r>
            <a:r>
              <a:rPr lang="en-IN" dirty="0"/>
              <a:t>, continuously updating suggestions based on user feedback and diagnostic responses. Additionally, agents communicate seamlessly through a central orchestrator, enabling better decision-making and improved outcomes. Overall, Agentic AI makes the system proactive, context-driven, and goal-oriented, acting like a </a:t>
            </a:r>
            <a:r>
              <a:rPr lang="en-IN" b="1" dirty="0"/>
              <a:t>smart digital IoT technician</a:t>
            </a:r>
            <a:r>
              <a:rPr lang="en-IN" dirty="0"/>
              <a:t> that helps users resolve smart home and network issues effortlessly.</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 name="TextBox 14">
            <a:extLst>
              <a:ext uri="{FF2B5EF4-FFF2-40B4-BE49-F238E27FC236}">
                <a16:creationId xmlns:a16="http://schemas.microsoft.com/office/drawing/2014/main" id="{B22EA981-5113-2D05-C1A2-169306E1D47C}"/>
              </a:ext>
            </a:extLst>
          </p:cNvPr>
          <p:cNvSpPr txBox="1"/>
          <p:nvPr/>
        </p:nvSpPr>
        <p:spPr>
          <a:xfrm>
            <a:off x="4416526" y="15888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pic>
        <p:nvPicPr>
          <p:cNvPr id="3" name="Picture 2">
            <a:extLst>
              <a:ext uri="{FF2B5EF4-FFF2-40B4-BE49-F238E27FC236}">
                <a16:creationId xmlns:a16="http://schemas.microsoft.com/office/drawing/2014/main" id="{808F7262-A324-288C-76E7-1BFB17B7EBD9}"/>
              </a:ext>
            </a:extLst>
          </p:cNvPr>
          <p:cNvPicPr>
            <a:picLocks noChangeAspect="1"/>
          </p:cNvPicPr>
          <p:nvPr/>
        </p:nvPicPr>
        <p:blipFill>
          <a:blip r:embed="rId3"/>
          <a:stretch>
            <a:fillRect/>
          </a:stretch>
        </p:blipFill>
        <p:spPr>
          <a:xfrm>
            <a:off x="2526766" y="2416816"/>
            <a:ext cx="6522720" cy="3058385"/>
          </a:xfrm>
          <a:prstGeom prst="rect">
            <a:avLst/>
          </a:prstGeom>
        </p:spPr>
      </p:pic>
      <p:cxnSp>
        <p:nvCxnSpPr>
          <p:cNvPr id="8" name="Straight Connector 7">
            <a:extLst>
              <a:ext uri="{FF2B5EF4-FFF2-40B4-BE49-F238E27FC236}">
                <a16:creationId xmlns:a16="http://schemas.microsoft.com/office/drawing/2014/main" id="{6FA4E5AF-2098-BBF3-70B4-40F861A63EF1}"/>
              </a:ext>
            </a:extLst>
          </p:cNvPr>
          <p:cNvCxnSpPr/>
          <p:nvPr/>
        </p:nvCxnSpPr>
        <p:spPr>
          <a:xfrm>
            <a:off x="2526766" y="2416816"/>
            <a:ext cx="6522720" cy="301389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BAB3D299-4FAE-EE42-D742-4992C262D86F}"/>
              </a:ext>
            </a:extLst>
          </p:cNvPr>
          <p:cNvPicPr>
            <a:picLocks noChangeAspect="1"/>
          </p:cNvPicPr>
          <p:nvPr/>
        </p:nvPicPr>
        <p:blipFill>
          <a:blip r:embed="rId3"/>
          <a:stretch>
            <a:fillRect/>
          </a:stretch>
        </p:blipFill>
        <p:spPr>
          <a:xfrm>
            <a:off x="813275" y="1044262"/>
            <a:ext cx="10876317" cy="528541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1BDFC4CC-3834-9547-F390-E3B82ECC8BA7}"/>
              </a:ext>
            </a:extLst>
          </p:cNvPr>
          <p:cNvPicPr>
            <a:picLocks noChangeAspect="1"/>
          </p:cNvPicPr>
          <p:nvPr/>
        </p:nvPicPr>
        <p:blipFill>
          <a:blip r:embed="rId3"/>
          <a:stretch>
            <a:fillRect/>
          </a:stretch>
        </p:blipFill>
        <p:spPr>
          <a:xfrm>
            <a:off x="672492" y="928192"/>
            <a:ext cx="11052902" cy="528972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65549C0C-FDD5-1FFF-4448-00BD16AD9464}"/>
              </a:ext>
            </a:extLst>
          </p:cNvPr>
          <p:cNvPicPr>
            <a:picLocks noChangeAspect="1"/>
          </p:cNvPicPr>
          <p:nvPr/>
        </p:nvPicPr>
        <p:blipFill>
          <a:blip r:embed="rId3"/>
          <a:stretch>
            <a:fillRect/>
          </a:stretch>
        </p:blipFill>
        <p:spPr>
          <a:xfrm>
            <a:off x="863600" y="844380"/>
            <a:ext cx="10749280" cy="516924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IN" sz="1800" dirty="0"/>
              <a:t>The proposed </a:t>
            </a:r>
            <a:r>
              <a:rPr lang="en-IN" sz="1800" b="1" dirty="0" err="1"/>
              <a:t>IoTAssist</a:t>
            </a:r>
            <a:r>
              <a:rPr lang="en-IN" sz="1800" b="1" dirty="0"/>
              <a:t> AI</a:t>
            </a:r>
            <a:r>
              <a:rPr lang="en-IN" sz="1800" dirty="0"/>
              <a:t> platform stands out by combining </a:t>
            </a:r>
            <a:r>
              <a:rPr lang="en-IN" sz="1800" b="1" dirty="0"/>
              <a:t>Agentic AI, RAG knowledge retrieval, and interactive troubleshooting</a:t>
            </a:r>
            <a:r>
              <a:rPr lang="en-IN" sz="1800" dirty="0"/>
              <a:t> into a single intelligent system.</a:t>
            </a:r>
          </a:p>
          <a:p>
            <a:pPr lvl="0"/>
            <a:r>
              <a:rPr lang="en-IN" sz="1800" b="1" dirty="0"/>
              <a:t>Multi-Agent Intelligence</a:t>
            </a:r>
            <a:r>
              <a:rPr lang="en-IN" sz="1800" dirty="0"/>
              <a:t> – Instead of a single chatbot, multiple specialized agents collaborate (Device Diagnosis, Knowledge </a:t>
            </a:r>
            <a:r>
              <a:rPr lang="en-IN" sz="1800" dirty="0" err="1"/>
              <a:t>Center</a:t>
            </a:r>
            <a:r>
              <a:rPr lang="en-IN" sz="1800" dirty="0"/>
              <a:t>, Guided Fixes, and AI Chat Support) to deliver context-aware technical resolution.</a:t>
            </a:r>
          </a:p>
          <a:p>
            <a:pPr lvl="0"/>
            <a:r>
              <a:rPr lang="en-IN" sz="1800" b="1" dirty="0"/>
              <a:t>RAG-Based Diagnostic Accuracy</a:t>
            </a:r>
            <a:r>
              <a:rPr lang="en-IN" sz="1800" dirty="0"/>
              <a:t> – Integrates real-time device manual and protocol retrieval with AI generation, drastically eliminating hallucinations and ensuring accurate technical advice.</a:t>
            </a:r>
          </a:p>
          <a:p>
            <a:pPr lvl="0"/>
            <a:r>
              <a:rPr lang="en-IN" sz="1800" b="1" dirty="0"/>
              <a:t>Context-Aware Session Tracking</a:t>
            </a:r>
            <a:r>
              <a:rPr lang="en-IN" sz="1800" dirty="0"/>
              <a:t> – Retains multi-turn conversation history and device specifications to provide tailored, step-by-step fixes without requiring repeated user explanations.</a:t>
            </a:r>
          </a:p>
          <a:p>
            <a:pPr lvl="0"/>
            <a:r>
              <a:rPr lang="en-IN" sz="1800" b="1" dirty="0"/>
              <a:t>Interactive Troubleshooting Workflow</a:t>
            </a:r>
            <a:r>
              <a:rPr lang="en-IN" sz="1800" dirty="0"/>
              <a:t> – Continuously adapts troubleshooting steps in real time based on user feedback and diagnostic test results.</a:t>
            </a:r>
          </a:p>
          <a:p>
            <a:pPr lvl="0"/>
            <a:r>
              <a:rPr lang="en-IN" sz="1800" b="1" dirty="0"/>
              <a:t>Proactive Root-Cause Isolation</a:t>
            </a:r>
            <a:r>
              <a:rPr lang="en-IN" sz="1800" dirty="0"/>
              <a:t> – </a:t>
            </a:r>
            <a:r>
              <a:rPr lang="en-IN" sz="1800" dirty="0" err="1"/>
              <a:t>Analyzes</a:t>
            </a:r>
            <a:r>
              <a:rPr lang="en-IN" sz="1800" dirty="0"/>
              <a:t> raw hardware error logs and failure patterns directly rather than relying on generic keyword manual searches.</a:t>
            </a:r>
          </a:p>
          <a:p>
            <a:pPr lvl="0"/>
            <a:r>
              <a:rPr lang="en-IN" sz="1800" b="1" dirty="0"/>
              <a:t>Quick-Action Usability</a:t>
            </a:r>
            <a:r>
              <a:rPr lang="en-IN" sz="1800" dirty="0"/>
              <a:t> – Incorporates preset query chips and multi-turn chat interfaces for rapid issue triage and zero-friction navigation.</a:t>
            </a:r>
          </a:p>
          <a:p>
            <a:pPr lvl="0"/>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enterprise-grade reliability, data governance, and high system availability.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530556" cy="4277001"/>
          </a:xfrm>
          <a:prstGeom prst="rect">
            <a:avLst/>
          </a:prstGeom>
          <a:noFill/>
          <a:ln>
            <a:noFill/>
          </a:ln>
        </p:spPr>
        <p:txBody>
          <a:bodyPr spcFirstLastPara="1" wrap="square" lIns="0" tIns="0" rIns="0" bIns="0" anchor="t" anchorCtr="0">
            <a:noAutofit/>
          </a:bodyPr>
          <a:lstStyle/>
          <a:p>
            <a:pPr lvl="0"/>
            <a:r>
              <a:rPr lang="en-IN" sz="1600" b="1" dirty="0"/>
              <a:t>GitHub Repository URL:</a:t>
            </a:r>
            <a:r>
              <a:rPr lang="en-IN" sz="1600" dirty="0"/>
              <a:t> </a:t>
            </a:r>
          </a:p>
          <a:p>
            <a:pPr lvl="0"/>
            <a:r>
              <a:rPr lang="en-IN" sz="1600" dirty="0"/>
              <a:t>[https://github.com/sverma1407/IOT-troubleshooting](</a:t>
            </a:r>
            <a:r>
              <a:rPr lang="en-IN" sz="1600" dirty="0">
                <a:hlinkClick r:id="rId3"/>
              </a:rPr>
              <a:t>https://github.com/sverma1407/IOT-troubleshooting</a:t>
            </a:r>
            <a:r>
              <a:rPr lang="en-IN" sz="1600" dirty="0"/>
              <a:t>)</a:t>
            </a:r>
          </a:p>
          <a:p>
            <a:pPr lvl="0"/>
            <a:endParaRPr lang="en-IN" sz="1600" dirty="0"/>
          </a:p>
          <a:p>
            <a:pPr lvl="0"/>
            <a:r>
              <a:rPr lang="en-IN" sz="1600" b="1" dirty="0"/>
              <a:t>Repository Contents:</a:t>
            </a:r>
            <a:endParaRPr lang="en-IN" sz="1600" dirty="0"/>
          </a:p>
          <a:p>
            <a:pPr marL="285750" lvl="1" indent="-285750">
              <a:buFont typeface="Courier New" panose="02070309020205020404" pitchFamily="49" charset="0"/>
              <a:buChar char="o"/>
            </a:pPr>
            <a:r>
              <a:rPr lang="en-IN" sz="1600" b="1" dirty="0"/>
              <a:t>Source Code:</a:t>
            </a:r>
            <a:r>
              <a:rPr lang="en-IN" sz="1600" dirty="0"/>
              <a:t> app.py, requirements.txt, .</a:t>
            </a:r>
            <a:r>
              <a:rPr lang="en-IN" sz="1600" dirty="0" err="1"/>
              <a:t>gitignore</a:t>
            </a:r>
            <a:r>
              <a:rPr lang="en-IN" sz="1600" dirty="0"/>
              <a:t>, README.md</a:t>
            </a:r>
          </a:p>
          <a:p>
            <a:pPr marL="285750" lvl="1" indent="-285750">
              <a:buFont typeface="Courier New" panose="02070309020205020404" pitchFamily="49" charset="0"/>
              <a:buChar char="o"/>
            </a:pPr>
            <a:r>
              <a:rPr lang="en-IN" sz="1600" b="1" dirty="0"/>
              <a:t>Documentation:</a:t>
            </a:r>
            <a:r>
              <a:rPr lang="en-IN" sz="1600" dirty="0"/>
              <a:t> yourproblemstatement.pdf</a:t>
            </a:r>
          </a:p>
          <a:p>
            <a:pPr marL="285750" lvl="1" indent="-285750">
              <a:buFont typeface="Courier New" panose="02070309020205020404" pitchFamily="49" charset="0"/>
              <a:buChar char="o"/>
            </a:pPr>
            <a:r>
              <a:rPr lang="en-IN" sz="1600" b="1" dirty="0"/>
              <a:t>Presentation:</a:t>
            </a:r>
            <a:r>
              <a:rPr lang="en-IN" sz="1600" dirty="0"/>
              <a:t> projectpresentation.pptx</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Integration with Real-Time IoT Gateways &amp; Telemetry –</a:t>
            </a:r>
            <a:r>
              <a:rPr lang="en-IN" sz="1800" dirty="0"/>
              <a:t> The system can be integrated directly with smart home hubs, edge gateways, and IoT communication protocols (MQTT/</a:t>
            </a:r>
            <a:r>
              <a:rPr lang="en-IN" sz="1800" dirty="0" err="1"/>
              <a:t>WebSockets</a:t>
            </a:r>
            <a:r>
              <a:rPr lang="en-IN" sz="1800" dirty="0"/>
              <a:t>) to collect live hardware metrics and error logs automatically. This will enable </a:t>
            </a:r>
            <a:r>
              <a:rPr lang="en-IN" sz="1800" dirty="0" err="1"/>
              <a:t>IoTAssist</a:t>
            </a:r>
            <a:r>
              <a:rPr lang="en-IN" sz="1800" dirty="0"/>
              <a:t> AI to proactively detect device degradation, isolate fault codes, and trigger automated resolution workflows before total system failure occurs.</a:t>
            </a:r>
          </a:p>
          <a:p>
            <a:endParaRPr lang="en-IN" sz="1800" dirty="0"/>
          </a:p>
          <a:p>
            <a:r>
              <a:rPr lang="en-IN" sz="1800" b="1" dirty="0"/>
              <a:t>2. AI-Powered Voice Assistant &amp; Multilingual Support –</a:t>
            </a:r>
            <a:r>
              <a:rPr lang="en-IN" sz="1800" dirty="0"/>
              <a:t> Enhancing the platform with hands-free voice interaction and support for multiple regional languages will significantly improve accessibility for field technicians and diverse end users. Technicians can navigate step-by-step troubleshooting workflows hands-free while inspecting equipment, communicating naturally in their preferred language.</a:t>
            </a:r>
          </a:p>
          <a:p>
            <a:endParaRPr lang="en-IN" sz="1800" dirty="0"/>
          </a:p>
          <a:p>
            <a:r>
              <a:rPr lang="en-IN" sz="1800" b="1" dirty="0"/>
              <a:t>3. Automated Remote Action &amp; Self-Healing Workflows –</a:t>
            </a:r>
            <a:r>
              <a:rPr lang="en-IN" sz="1800" dirty="0"/>
              <a:t> Integrating API-driven remote execution triggers will allow agents to perform over-the-air (OTA) firmware updates, remote device reboots, and network configuration resets directly from the troubleshooting interface, resolving routine technical glitches with zero manual intervention.</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0882"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4" name="Picture 3">
            <a:extLst>
              <a:ext uri="{FF2B5EF4-FFF2-40B4-BE49-F238E27FC236}">
                <a16:creationId xmlns:a16="http://schemas.microsoft.com/office/drawing/2014/main" id="{63FA0392-A9D5-E0AC-7F51-97CBC2E1FB83}"/>
              </a:ext>
            </a:extLst>
          </p:cNvPr>
          <p:cNvPicPr>
            <a:picLocks noChangeAspect="1"/>
          </p:cNvPicPr>
          <p:nvPr/>
        </p:nvPicPr>
        <p:blipFill>
          <a:blip r:embed="rId2"/>
          <a:stretch>
            <a:fillRect/>
          </a:stretch>
        </p:blipFill>
        <p:spPr>
          <a:xfrm>
            <a:off x="1473201" y="690061"/>
            <a:ext cx="8991600" cy="578285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10" name="Picture 9">
            <a:extLst>
              <a:ext uri="{FF2B5EF4-FFF2-40B4-BE49-F238E27FC236}">
                <a16:creationId xmlns:a16="http://schemas.microsoft.com/office/drawing/2014/main" id="{DFDBB667-8B68-8ED8-4346-FA8F2D704BA5}"/>
              </a:ext>
            </a:extLst>
          </p:cNvPr>
          <p:cNvPicPr>
            <a:picLocks noChangeAspect="1"/>
          </p:cNvPicPr>
          <p:nvPr/>
        </p:nvPicPr>
        <p:blipFill>
          <a:blip r:embed="rId2"/>
          <a:stretch>
            <a:fillRect/>
          </a:stretch>
        </p:blipFill>
        <p:spPr>
          <a:xfrm>
            <a:off x="1534326" y="742252"/>
            <a:ext cx="9476740" cy="588935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TotalTime>
  <Words>1476</Words>
  <Application>Microsoft Office PowerPoint</Application>
  <PresentationFormat>Widescreen</PresentationFormat>
  <Paragraphs>132</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Courier New</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Shubham Verma</cp:lastModifiedBy>
  <cp:revision>8</cp:revision>
  <dcterms:created xsi:type="dcterms:W3CDTF">2025-07-08T05:06:56Z</dcterms:created>
  <dcterms:modified xsi:type="dcterms:W3CDTF">2026-08-12T18:56:30Z</dcterms:modified>
</cp:coreProperties>
</file>